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3" r:id="rId17"/>
    <p:sldId id="272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68" d="100"/>
          <a:sy n="68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BB9A2-E7F2-73EA-67D0-3A8C22E54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8B478C-8595-1154-D319-8E057528D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AD070-16DE-88C6-B016-9ED34AE9F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DDE2-09C4-447A-9C86-3C371A8CCAF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8165A-36D6-4445-9C2F-5E2C873C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09B99-7D35-CFE2-211F-34965B44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AA65-9525-4600-AEE2-12F818BB8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11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8FC6C-CE26-9015-6BEF-3649A8141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CBC66-A328-6B84-B169-748DFE29C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D62B3-478B-B676-CCFA-6965778DF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DDE2-09C4-447A-9C86-3C371A8CCAF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3361C-C868-D618-CA76-96AEDC562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6F080-3E4E-8DFC-F611-B9931140A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AA65-9525-4600-AEE2-12F818BB8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47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2AC4-688C-0AAE-4171-D62B4232D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1B327-FBDD-0775-13AC-3C64F7594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04BE9-8B4B-C201-33AD-28FD10645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DDE2-09C4-447A-9C86-3C371A8CCAF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8E1EA-49DD-6377-A724-30DB933AE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A1510-354B-94E6-9371-2CD67A85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AA65-9525-4600-AEE2-12F818BB8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03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F5667-7187-09A8-6A7D-C55390651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01E5A-8928-F5BC-0F2A-C385DD6C8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293F6-8A38-FC76-0A2D-12CCCCC42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7C221-0CA9-745A-C154-C36B6170D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DDE2-09C4-447A-9C86-3C371A8CCAF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4871D-A255-0BAF-2CBC-C4445182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D3C98-A045-8BC9-D87B-08A01012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AA65-9525-4600-AEE2-12F818BB8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8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6A907-3BE1-BB38-BD25-B8DBD959C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C3FC9-8BD1-8F2F-43A6-38431F57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311F6-D329-2977-D1EF-4154856E1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B7ECC4-7A1A-4C5C-A1CF-FE21AB23E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842F45-C37B-32CC-7673-E2E4C37D6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11FE61-B214-8AAD-E408-113F48B9F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DDE2-09C4-447A-9C86-3C371A8CCAF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880F6-983F-15C6-6890-B9EB02B93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15447-1055-4543-175C-2033F45A9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AA65-9525-4600-AEE2-12F818BB8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67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D7C04-A95C-AA54-58E1-39E833B86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C9989-754A-6359-2514-30AB0C11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DDE2-09C4-447A-9C86-3C371A8CCAF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4C25B-682A-64D1-8C23-10E4114F8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6A576-6D51-F09C-35D5-E1DD3D412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AA65-9525-4600-AEE2-12F818BB8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8558C9-BFD1-C51B-6257-5DEEF9577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DDE2-09C4-447A-9C86-3C371A8CCAF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941171-0820-4CD1-9050-CF002F57B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81659-3D32-BBF9-D84D-F069AAE84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AA65-9525-4600-AEE2-12F818BB8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75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CF0A-3AC0-0059-3106-23BFA6734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B4446-3457-510B-A6AE-AB325102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895FD-A370-C0C2-FE87-4F3E23BB7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0A73E-B19B-0B77-FD1B-16A7E81C6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DDE2-09C4-447A-9C86-3C371A8CCAF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28F04-B289-AB81-B9C4-C9CA5A135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AE522-49F2-0D21-A84F-387D0405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AA65-9525-4600-AEE2-12F818BB8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62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F425-7E71-BEE4-A431-C50003EAD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C8FD65-7D1F-D772-9B9F-BF0A615F5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619C6-9FAC-3F6A-EC1E-58CA2A4AC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F7731-62CF-4E87-3817-F6962D721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DDE2-09C4-447A-9C86-3C371A8CCAF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A7D0D-7999-AA86-B290-C1D0E5AA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0B393-6A01-8C77-3FA6-F521D56FE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AA65-9525-4600-AEE2-12F818BB8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55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FCC6-A166-3CF1-CC86-3682110FF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F4FBF-7E7B-3848-BFC6-6861FDE53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70C6C-810A-1369-4912-FFB48388B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DDE2-09C4-447A-9C86-3C371A8CCAF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E61C4-4BDB-2F2A-AC93-761527A7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F6F07-BA66-D494-A3D4-ECBE7A93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AA65-9525-4600-AEE2-12F818BB8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34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09EE09-7ACD-3BB2-45F8-B38E5A72D9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627036-65C7-4181-ADCA-84C1B592D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649D6-1183-AD45-4E2D-18AA3DA23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DDE2-09C4-447A-9C86-3C371A8CCAF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2DB2A-F7CA-9E0F-DED7-242D5690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A9D8F-AFBD-EA81-FD7D-78E5C2538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AA65-9525-4600-AEE2-12F818BB8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25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20A2F7-7527-1EE8-FAFD-7CB30552B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848CB-5E61-E57E-0913-26103D0D3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61C4B-E198-B847-3680-1C5CB7BBD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8DDE2-09C4-447A-9C86-3C371A8CCAF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1445F-D979-4957-7A86-F8D95D461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62202-BA6C-E387-4E15-BDB4C352A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4AA65-9525-4600-AEE2-12F818BB8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4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33E1-ACF6-E395-14CD-0A626BF6C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244" y="618067"/>
            <a:ext cx="10826044" cy="982133"/>
          </a:xfrm>
        </p:spPr>
        <p:txBody>
          <a:bodyPr>
            <a:normAutofit/>
          </a:bodyPr>
          <a:lstStyle/>
          <a:p>
            <a:r>
              <a:rPr lang="en-US" dirty="0"/>
              <a:t>Capstone Project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C88E0-1295-D9C4-E6E8-8F6C06564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266" y="3568170"/>
            <a:ext cx="9144000" cy="2493963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By:- Joel Binu Philip</a:t>
            </a:r>
          </a:p>
          <a:p>
            <a:r>
              <a:rPr lang="en-US" sz="3200" dirty="0"/>
              <a:t>Project Name : Service Management System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A Comprehensive Microservices Platform for End-to-End Home Service Lifecycle Management.</a:t>
            </a:r>
            <a:br>
              <a:rPr lang="en-US" sz="3200" dirty="0"/>
            </a:br>
            <a:endParaRPr lang="en-US" sz="3200" dirty="0"/>
          </a:p>
        </p:txBody>
      </p:sp>
      <p:pic>
        <p:nvPicPr>
          <p:cNvPr id="4" name="Picture 3" descr="Chubb Corporate Newsroom - Chubb Logos">
            <a:extLst>
              <a:ext uri="{FF2B5EF4-FFF2-40B4-BE49-F238E27FC236}">
                <a16:creationId xmlns:a16="http://schemas.microsoft.com/office/drawing/2014/main" id="{9640380E-C2C5-62CD-F243-56E53A4D9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623" y="2315484"/>
            <a:ext cx="3530754" cy="35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56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CA66A3-BAB7-82B4-3754-24ADA891E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78" y="1151467"/>
            <a:ext cx="10515600" cy="544124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In today’s on-demand home service industry, service providers face significant challenges due to </a:t>
            </a:r>
            <a:r>
              <a:rPr lang="en-US" b="1" dirty="0"/>
              <a:t>fragmented workflows, manual coordination, and lack of real-time visibility</a:t>
            </a:r>
            <a:r>
              <a:rPr lang="en-US" dirty="0"/>
              <a:t> across the service lifecycle. Traditional service management approaches rely heavily on </a:t>
            </a:r>
            <a:r>
              <a:rPr lang="en-US" b="1" dirty="0"/>
              <a:t>disconnected communication channels, and isolated data storage</a:t>
            </a:r>
            <a:r>
              <a:rPr lang="en-US" dirty="0"/>
              <a:t>, resulting in delayed service delivery, poor customer experience, and limited operational insights. </a:t>
            </a:r>
          </a:p>
          <a:p>
            <a:r>
              <a:rPr lang="en-US" dirty="0"/>
              <a:t>Target Users:</a:t>
            </a:r>
          </a:p>
          <a:p>
            <a:pPr lvl="1"/>
            <a:r>
              <a:rPr lang="en-US" dirty="0"/>
              <a:t>Customers: For booking and tracking home services. </a:t>
            </a:r>
          </a:p>
          <a:p>
            <a:pPr lvl="1"/>
            <a:r>
              <a:rPr lang="en-US" dirty="0"/>
              <a:t>Technicians: For managing assigned tasks and workload. </a:t>
            </a:r>
          </a:p>
          <a:p>
            <a:pPr lvl="1"/>
            <a:r>
              <a:rPr lang="en-US" dirty="0"/>
              <a:t>Service Managers: For technician approval and task assignment. </a:t>
            </a:r>
          </a:p>
          <a:p>
            <a:pPr lvl="1"/>
            <a:r>
              <a:rPr lang="en-US" dirty="0"/>
              <a:t>Admins: For system-wide configuration and reporting.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Market Need: A scalable, secure, and automated solution to bridge the gap between service providers and end-users.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529D7E-1AE0-1776-7B95-C9B3A34F3282}"/>
              </a:ext>
            </a:extLst>
          </p:cNvPr>
          <p:cNvSpPr txBox="1"/>
          <p:nvPr/>
        </p:nvSpPr>
        <p:spPr>
          <a:xfrm>
            <a:off x="759178" y="442836"/>
            <a:ext cx="856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122988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13254-558A-E17D-9EB3-96C1FB66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770"/>
            <a:ext cx="10515600" cy="763764"/>
          </a:xfrm>
        </p:spPr>
        <p:txBody>
          <a:bodyPr/>
          <a:lstStyle/>
          <a:p>
            <a:r>
              <a:rPr lang="en-US" dirty="0"/>
              <a:t>High Level Architecture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3801FB-5A44-DEE3-2A5F-C3031731DB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778" y="1128889"/>
            <a:ext cx="11232444" cy="527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1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2BA52-4D75-DFB0-46E8-C2C7B475F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2178"/>
            <a:ext cx="10515600" cy="55447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High-Level Architecture:</a:t>
            </a:r>
          </a:p>
          <a:p>
            <a:pPr marL="0" indent="0">
              <a:buNone/>
            </a:pPr>
            <a:r>
              <a:rPr lang="en-US" dirty="0"/>
              <a:t>Frontend: Built with Angular :-</a:t>
            </a:r>
          </a:p>
          <a:p>
            <a:pPr lvl="1"/>
            <a:r>
              <a:rPr lang="en-US" dirty="0"/>
              <a:t>API Gateway: Spring Cloud Gateway serving as the single entry point (Port 8080).</a:t>
            </a:r>
          </a:p>
          <a:p>
            <a:pPr lvl="1"/>
            <a:r>
              <a:rPr lang="en-US" dirty="0"/>
              <a:t>Service Registry: Netflix Eureka for service discovery (Port 8761). 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Microservices :-</a:t>
            </a:r>
          </a:p>
          <a:p>
            <a:pPr lvl="1"/>
            <a:r>
              <a:rPr lang="en-US" dirty="0"/>
              <a:t>Auth Service: Identity management and RBAC.</a:t>
            </a:r>
          </a:p>
          <a:p>
            <a:pPr lvl="1"/>
            <a:r>
              <a:rPr lang="en-US" dirty="0"/>
              <a:t>Booking Service: Core service lifecycle and dashboarding.</a:t>
            </a:r>
          </a:p>
          <a:p>
            <a:pPr lvl="1"/>
            <a:r>
              <a:rPr lang="en-US" dirty="0"/>
              <a:t>Service Catalog: Management of service categories and items. </a:t>
            </a:r>
          </a:p>
          <a:p>
            <a:pPr lvl="1"/>
            <a:r>
              <a:rPr lang="en-US" dirty="0"/>
              <a:t>Billing Service: Invoice generation and revenue tracking. </a:t>
            </a:r>
          </a:p>
          <a:p>
            <a:pPr lvl="1"/>
            <a:r>
              <a:rPr lang="en-US" dirty="0"/>
              <a:t>Notification Service: Real-time alerts via RabbitMQ.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Databases: Distributed MongoDB instances for each service. </a:t>
            </a:r>
          </a:p>
          <a:p>
            <a:r>
              <a:rPr lang="en-US" dirty="0"/>
              <a:t>Messaging: RabbitMQ for asynchronous event-driven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2848426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6D9DA-8BDF-F969-DFED-AEF8C0955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979"/>
            <a:ext cx="10515600" cy="54331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Key Features</a:t>
            </a:r>
          </a:p>
          <a:p>
            <a:r>
              <a:rPr lang="en-US" dirty="0"/>
              <a:t>Customer: Service request creation, real-time status tracking (Pending to Completed), and rating/feedback system.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Technician: Professional profile application, workload status management (Toggle Availability), and OTP-based service completion.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Manager: Multi-stage technician approval workflow, smart technician assignment, and reassignment capabilities. </a:t>
            </a:r>
          </a:p>
          <a:p>
            <a:endParaRPr lang="en-US" dirty="0"/>
          </a:p>
          <a:p>
            <a:r>
              <a:rPr lang="en-US" dirty="0"/>
              <a:t>Admin: Dynamic catalog management (categories/services),and comprehensive revenue/performance reporting. </a:t>
            </a:r>
          </a:p>
        </p:txBody>
      </p:sp>
    </p:spTree>
    <p:extLst>
      <p:ext uri="{BB962C8B-B14F-4D97-AF65-F5344CB8AC3E}">
        <p14:creationId xmlns:p14="http://schemas.microsoft.com/office/powerpoint/2010/main" val="1200610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B5EC4B7-C026-27FA-AC8E-D712B327B1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997" y="889143"/>
            <a:ext cx="10934006" cy="5968857"/>
          </a:xfrm>
          <a:prstGeom prst="rect">
            <a:avLst/>
          </a:prstGeom>
        </p:spPr>
      </p:pic>
      <p:sp>
        <p:nvSpPr>
          <p:cNvPr id="4" name="AutoShape 2" descr="Image of ">
            <a:extLst>
              <a:ext uri="{FF2B5EF4-FFF2-40B4-BE49-F238E27FC236}">
                <a16:creationId xmlns:a16="http://schemas.microsoft.com/office/drawing/2014/main" id="{9CB799FC-34A1-9205-197F-EC3728F637BE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327405" y="90311"/>
            <a:ext cx="11026395" cy="79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dirty="0"/>
              <a:t>Role-Based Authentication &amp; Service Access Flow</a:t>
            </a:r>
          </a:p>
        </p:txBody>
      </p:sp>
    </p:spTree>
    <p:extLst>
      <p:ext uri="{BB962C8B-B14F-4D97-AF65-F5344CB8AC3E}">
        <p14:creationId xmlns:p14="http://schemas.microsoft.com/office/powerpoint/2010/main" val="537587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ABE5-E51E-51D9-868D-D949E76EE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4697"/>
          </a:xfrm>
        </p:spPr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72EB5-0EF1-1186-36DB-0489F8BE5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067"/>
            <a:ext cx="10515600" cy="4923896"/>
          </a:xfrm>
        </p:spPr>
        <p:txBody>
          <a:bodyPr>
            <a:normAutofit/>
          </a:bodyPr>
          <a:lstStyle/>
          <a:p>
            <a:r>
              <a:rPr lang="en-US" dirty="0"/>
              <a:t>Frontend: Angular (with </a:t>
            </a:r>
            <a:r>
              <a:rPr lang="en-US" dirty="0" err="1"/>
              <a:t>RxJS</a:t>
            </a:r>
            <a:r>
              <a:rPr lang="en-US" dirty="0"/>
              <a:t> and Bootstrap). </a:t>
            </a:r>
          </a:p>
          <a:p>
            <a:r>
              <a:rPr lang="en-US" dirty="0"/>
              <a:t>Backend: Java 17, Spring Boot, Spring Cloud (2023.0.0). </a:t>
            </a:r>
          </a:p>
          <a:p>
            <a:r>
              <a:rPr lang="en-US" dirty="0"/>
              <a:t>Microservices: Spring Cloud Gateway, Eureka Server, </a:t>
            </a:r>
            <a:r>
              <a:rPr lang="en-US" dirty="0" err="1"/>
              <a:t>OpenFeign</a:t>
            </a:r>
            <a:r>
              <a:rPr lang="en-US" dirty="0"/>
              <a:t>, and Resilience4j. </a:t>
            </a:r>
          </a:p>
          <a:p>
            <a:r>
              <a:rPr lang="en-US" dirty="0"/>
              <a:t>Database: MongoDB.</a:t>
            </a:r>
          </a:p>
          <a:p>
            <a:r>
              <a:rPr lang="en-US" dirty="0"/>
              <a:t>Messaging: RabbitMQ. </a:t>
            </a:r>
          </a:p>
          <a:p>
            <a:r>
              <a:rPr lang="en-US" dirty="0"/>
              <a:t>Security: JWT (JSON Web Tokens), Spring Security, and </a:t>
            </a:r>
            <a:r>
              <a:rPr lang="en-US" dirty="0" err="1"/>
              <a:t>BCrypt</a:t>
            </a:r>
            <a:r>
              <a:rPr lang="en-US" dirty="0"/>
              <a:t> password encoding. </a:t>
            </a:r>
          </a:p>
          <a:p>
            <a:r>
              <a:rPr lang="en-US" dirty="0"/>
              <a:t>Testing: JUnit 5, Mockito, and </a:t>
            </a:r>
            <a:r>
              <a:rPr lang="en-US" dirty="0" err="1"/>
              <a:t>MockMvc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2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80F2-88FC-4AB1-184D-A5974D7E0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8311"/>
            <a:ext cx="10515600" cy="557865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dirty="0"/>
              <a:t>Technical Highlights</a:t>
            </a:r>
          </a:p>
          <a:p>
            <a:endParaRPr lang="en-US" dirty="0"/>
          </a:p>
          <a:p>
            <a:r>
              <a:rPr lang="en-US" dirty="0"/>
              <a:t>Event-Driven Communication: Asynchronous notification delivery using RabbitMQ to decouple services. </a:t>
            </a:r>
          </a:p>
          <a:p>
            <a:endParaRPr lang="en-US" dirty="0"/>
          </a:p>
          <a:p>
            <a:r>
              <a:rPr lang="en-US" dirty="0"/>
              <a:t>Security &amp; Compliance: Rate limiting on login, automated account locking after failed attempts, and full audit logs for sensitive actions. </a:t>
            </a:r>
          </a:p>
          <a:p>
            <a:endParaRPr lang="en-US" dirty="0"/>
          </a:p>
          <a:p>
            <a:r>
              <a:rPr lang="en-US" dirty="0"/>
              <a:t>Robust Error Handling: Global exception handling with consistent API response wrappers across all microservices. </a:t>
            </a:r>
          </a:p>
          <a:p>
            <a:endParaRPr lang="en-US" dirty="0"/>
          </a:p>
          <a:p>
            <a:r>
              <a:rPr lang="en-US" dirty="0"/>
              <a:t>Data Integrity: Transactional service layers and scheduled cleanup of expired tokens and logs. </a:t>
            </a:r>
          </a:p>
          <a:p>
            <a:endParaRPr lang="en-US" dirty="0"/>
          </a:p>
          <a:p>
            <a:r>
              <a:rPr lang="en-US" dirty="0"/>
              <a:t>Inter-service Reliability: </a:t>
            </a:r>
            <a:r>
              <a:rPr lang="en-US" dirty="0" err="1"/>
              <a:t>OpenFeign</a:t>
            </a:r>
            <a:r>
              <a:rPr lang="en-US" dirty="0"/>
              <a:t> clients with circuit breakers (Resilience4j) and fallback mechanisms</a:t>
            </a:r>
          </a:p>
        </p:txBody>
      </p:sp>
    </p:spTree>
    <p:extLst>
      <p:ext uri="{BB962C8B-B14F-4D97-AF65-F5344CB8AC3E}">
        <p14:creationId xmlns:p14="http://schemas.microsoft.com/office/powerpoint/2010/main" val="4068844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8554790-F234-6470-FAC1-422564EA7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27143" y="170610"/>
            <a:ext cx="11937714" cy="6516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672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5304E-3DA5-170B-8385-8D0408867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417" y="211676"/>
            <a:ext cx="10515600" cy="56056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Customer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0B9792-3DE4-B303-AF92-8986AE7B4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417" y="818300"/>
            <a:ext cx="10689166" cy="582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702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404945-BF1F-2159-A62A-F28E01D6F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331" y="652846"/>
            <a:ext cx="11343337" cy="59059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65174B-595B-0DA9-E968-8E879D31908F}"/>
              </a:ext>
            </a:extLst>
          </p:cNvPr>
          <p:cNvSpPr txBox="1"/>
          <p:nvPr/>
        </p:nvSpPr>
        <p:spPr>
          <a:xfrm>
            <a:off x="424331" y="136233"/>
            <a:ext cx="9779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Technician Dashboard</a:t>
            </a:r>
          </a:p>
        </p:txBody>
      </p:sp>
    </p:spTree>
    <p:extLst>
      <p:ext uri="{BB962C8B-B14F-4D97-AF65-F5344CB8AC3E}">
        <p14:creationId xmlns:p14="http://schemas.microsoft.com/office/powerpoint/2010/main" val="517453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56DCF-B034-AA72-6D12-520C1D74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8297"/>
          </a:xfrm>
        </p:spPr>
        <p:txBody>
          <a:bodyPr>
            <a:normAutofit fontScale="90000"/>
          </a:bodyPr>
          <a:lstStyle/>
          <a:p>
            <a:r>
              <a:rPr lang="en-US" dirty="0"/>
              <a:t>Admin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AA2F74-6BC2-D172-15EA-BB10E77B4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555" y="1271679"/>
            <a:ext cx="11288889" cy="558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8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9E0A-AA56-D9A5-6E36-6A36F2BC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5" y="209725"/>
            <a:ext cx="10515600" cy="1325563"/>
          </a:xfrm>
        </p:spPr>
        <p:txBody>
          <a:bodyPr/>
          <a:lstStyle/>
          <a:p>
            <a:r>
              <a:rPr lang="en-US" dirty="0"/>
              <a:t>Service Manager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7CA3BE-DC4E-1B9F-BB70-61A8E46ED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965" y="1535288"/>
            <a:ext cx="11567102" cy="496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50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8DAC9-F6DC-F647-A6BE-90D8E0112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800" y="634029"/>
            <a:ext cx="10515600" cy="55899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Testing &amp; Quality</a:t>
            </a:r>
          </a:p>
          <a:p>
            <a:endParaRPr lang="en-US" dirty="0"/>
          </a:p>
          <a:p>
            <a:r>
              <a:rPr lang="en-US" dirty="0"/>
              <a:t>Unit &amp; Integration Testing: Extensive test coverage using </a:t>
            </a:r>
            <a:r>
              <a:rPr lang="en-US" dirty="0" err="1"/>
              <a:t>MockMvc</a:t>
            </a:r>
            <a:r>
              <a:rPr lang="en-US" dirty="0"/>
              <a:t> for controllers and Mockito for service-layer isolation. </a:t>
            </a:r>
          </a:p>
          <a:p>
            <a:endParaRPr lang="en-US" dirty="0"/>
          </a:p>
          <a:p>
            <a:r>
              <a:rPr lang="en-US" dirty="0"/>
              <a:t>Security Testing: Use of @WithMockUser to validate role-based access constraints (e.g., ensuring technicians cannot assign tasks).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Validation: Strict input validation using JSR-303 annotations (@NotBlank, @Pattern, @Size)</a:t>
            </a:r>
          </a:p>
        </p:txBody>
      </p:sp>
    </p:spTree>
    <p:extLst>
      <p:ext uri="{BB962C8B-B14F-4D97-AF65-F5344CB8AC3E}">
        <p14:creationId xmlns:p14="http://schemas.microsoft.com/office/powerpoint/2010/main" val="2826921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8E7FB-0FF1-650C-30E0-E0A43E65F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844" y="349956"/>
            <a:ext cx="10890956" cy="58270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DevOps &amp; Infrastructure</a:t>
            </a:r>
            <a:endParaRPr lang="en-US" dirty="0"/>
          </a:p>
          <a:p>
            <a:pPr lvl="0">
              <a:lnSpc>
                <a:spcPct val="150000"/>
              </a:lnSpc>
            </a:pPr>
            <a:r>
              <a:rPr lang="en-US" b="1" dirty="0"/>
              <a:t>Docker</a:t>
            </a:r>
            <a:r>
              <a:rPr lang="en-US" dirty="0"/>
              <a:t>: Containerization platform.</a:t>
            </a:r>
          </a:p>
          <a:p>
            <a:pPr lvl="0">
              <a:lnSpc>
                <a:spcPct val="150000"/>
              </a:lnSpc>
            </a:pPr>
            <a:r>
              <a:rPr lang="en-US" b="1" dirty="0"/>
              <a:t>Docker Compose</a:t>
            </a:r>
            <a:r>
              <a:rPr lang="en-US" dirty="0"/>
              <a:t>: Tool for defining running multi-container applications locally.</a:t>
            </a:r>
          </a:p>
          <a:p>
            <a:r>
              <a:rPr lang="en-US" b="1" dirty="0"/>
              <a:t>Jenkins: </a:t>
            </a:r>
            <a:r>
              <a:rPr lang="en-US" dirty="0"/>
              <a:t>For Continuous Integration and Deployment (CI/CD) pipelines.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SonarQube</a:t>
            </a:r>
            <a:r>
              <a:rPr lang="en-US" dirty="0"/>
              <a:t>: For continuous code quality inspection.</a:t>
            </a:r>
          </a:p>
        </p:txBody>
      </p:sp>
    </p:spTree>
    <p:extLst>
      <p:ext uri="{BB962C8B-B14F-4D97-AF65-F5344CB8AC3E}">
        <p14:creationId xmlns:p14="http://schemas.microsoft.com/office/powerpoint/2010/main" val="2794734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A80A94-F1A8-54AC-1863-F71ABE7C87DF}"/>
              </a:ext>
            </a:extLst>
          </p:cNvPr>
          <p:cNvSpPr txBox="1"/>
          <p:nvPr/>
        </p:nvSpPr>
        <p:spPr>
          <a:xfrm>
            <a:off x="349955" y="139699"/>
            <a:ext cx="11686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JaCoCo</a:t>
            </a:r>
            <a:r>
              <a:rPr lang="en-US" sz="2800" b="1" dirty="0"/>
              <a:t> Report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1255B2-F898-FE3F-6A9F-BEB655BB8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2000" cy="15941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A65F5B-D204-1BE2-EDD0-A8208AF26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97472"/>
            <a:ext cx="12192000" cy="1760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D6691E-B001-E21C-03ED-14C1A4AEC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06536"/>
            <a:ext cx="12192000" cy="16515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19EBF6-DF5A-025A-C273-5177D0D35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919"/>
            <a:ext cx="12192000" cy="168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953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DEA223-7480-3892-90B7-B99DB7818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1410"/>
            <a:ext cx="12192000" cy="60865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E917C4-1829-9303-CFEF-923447FF6858}"/>
              </a:ext>
            </a:extLst>
          </p:cNvPr>
          <p:cNvSpPr txBox="1"/>
          <p:nvPr/>
        </p:nvSpPr>
        <p:spPr>
          <a:xfrm>
            <a:off x="167268" y="156117"/>
            <a:ext cx="9835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SonarQube Analysis</a:t>
            </a:r>
          </a:p>
        </p:txBody>
      </p:sp>
    </p:spTree>
    <p:extLst>
      <p:ext uri="{BB962C8B-B14F-4D97-AF65-F5344CB8AC3E}">
        <p14:creationId xmlns:p14="http://schemas.microsoft.com/office/powerpoint/2010/main" val="4230827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0979C-D822-D33B-B9D6-5D44962EC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422"/>
            <a:ext cx="10515600" cy="569154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Future Enhancements</a:t>
            </a:r>
          </a:p>
          <a:p>
            <a:endParaRPr lang="en-US" dirty="0"/>
          </a:p>
          <a:p>
            <a:r>
              <a:rPr lang="en-US" dirty="0"/>
              <a:t>Scalability: Implementation of Kubernetes (K8s) for auto-scaling service instances based on load. </a:t>
            </a:r>
          </a:p>
          <a:p>
            <a:endParaRPr lang="en-US" dirty="0"/>
          </a:p>
          <a:p>
            <a:r>
              <a:rPr lang="en-US" dirty="0"/>
              <a:t>Features: Integration of a real-time chat service for Customers and Technicians.</a:t>
            </a:r>
          </a:p>
          <a:p>
            <a:endParaRPr lang="en-US" dirty="0"/>
          </a:p>
          <a:p>
            <a:r>
              <a:rPr lang="en-US" dirty="0"/>
              <a:t>Payment Gateway: Integration of external payment providers (e.g., Stripe/</a:t>
            </a:r>
            <a:r>
              <a:rPr lang="en-US" dirty="0" err="1"/>
              <a:t>Razorpay</a:t>
            </a:r>
            <a:r>
              <a:rPr lang="en-US" dirty="0"/>
              <a:t>) instead of just internal status updates. </a:t>
            </a:r>
          </a:p>
          <a:p>
            <a:endParaRPr lang="en-US" dirty="0"/>
          </a:p>
          <a:p>
            <a:r>
              <a:rPr lang="en-US" dirty="0"/>
              <a:t>Mobile App: Developing a Flutter or React Native mobile client for on-the-go service management.</a:t>
            </a:r>
          </a:p>
        </p:txBody>
      </p:sp>
    </p:spTree>
    <p:extLst>
      <p:ext uri="{BB962C8B-B14F-4D97-AF65-F5344CB8AC3E}">
        <p14:creationId xmlns:p14="http://schemas.microsoft.com/office/powerpoint/2010/main" val="4259993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675</Words>
  <Application>Microsoft Office PowerPoint</Application>
  <PresentationFormat>Widescreen</PresentationFormat>
  <Paragraphs>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Capstone Project Review</vt:lpstr>
      <vt:lpstr>PowerPoint Presentation</vt:lpstr>
      <vt:lpstr>High Level Architecture Diagram</vt:lpstr>
      <vt:lpstr>PowerPoint Presentation</vt:lpstr>
      <vt:lpstr>PowerPoint Presentation</vt:lpstr>
      <vt:lpstr>Role-Based Authentication &amp; Service Access Flow</vt:lpstr>
      <vt:lpstr>Technology Stack</vt:lpstr>
      <vt:lpstr>PowerPoint Presentation</vt:lpstr>
      <vt:lpstr>PowerPoint Presentation</vt:lpstr>
      <vt:lpstr>Customer Dashboard</vt:lpstr>
      <vt:lpstr>PowerPoint Presentation</vt:lpstr>
      <vt:lpstr>Admin Dashboard</vt:lpstr>
      <vt:lpstr>Service Manager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Binu Philip</dc:creator>
  <cp:lastModifiedBy>Joel Binu Philip</cp:lastModifiedBy>
  <cp:revision>4</cp:revision>
  <dcterms:created xsi:type="dcterms:W3CDTF">2026-01-07T00:58:32Z</dcterms:created>
  <dcterms:modified xsi:type="dcterms:W3CDTF">2026-01-07T16:04:31Z</dcterms:modified>
</cp:coreProperties>
</file>