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59" r:id="rId5"/>
    <p:sldId id="258" r:id="rId6"/>
    <p:sldId id="261" r:id="rId7"/>
    <p:sldId id="262" r:id="rId8"/>
    <p:sldId id="263" r:id="rId9"/>
    <p:sldId id="274" r:id="rId10"/>
    <p:sldId id="264" r:id="rId11"/>
    <p:sldId id="265" r:id="rId12"/>
    <p:sldId id="266" r:id="rId13"/>
    <p:sldId id="267" r:id="rId14"/>
    <p:sldId id="268" r:id="rId15"/>
    <p:sldId id="270" r:id="rId16"/>
    <p:sldId id="271" r:id="rId17"/>
    <p:sldId id="273" r:id="rId18"/>
    <p:sldId id="272" r:id="rId19"/>
    <p:sldId id="269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4" autoAdjust="0"/>
    <p:restoredTop sz="94660"/>
  </p:normalViewPr>
  <p:slideViewPr>
    <p:cSldViewPr snapToGrid="0">
      <p:cViewPr varScale="1">
        <p:scale>
          <a:sx n="68" d="100"/>
          <a:sy n="68" d="100"/>
        </p:scale>
        <p:origin x="93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BB9A2-E7F2-73EA-67D0-3A8C22E54C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8B478C-8595-1154-D319-8E057528DC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2AD070-16DE-88C6-B016-9ED34AE9F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78DDE2-09C4-447A-9C86-3C371A8CCAF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38165A-36D6-4445-9C2F-5E2C873C99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E09B99-7D35-CFE2-211F-34965B44B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4AA65-9525-4600-AEE2-12F818BB83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1117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98FC6C-CE26-9015-6BEF-3649A8141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7CBC66-A328-6B84-B169-748DFE29CD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9D62B3-478B-B676-CCFA-6965778DF9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78DDE2-09C4-447A-9C86-3C371A8CCAF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53361C-C868-D618-CA76-96AEDC562F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26F080-3E4E-8DFC-F611-B9931140A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4AA65-9525-4600-AEE2-12F818BB83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04470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E2AC4-688C-0AAE-4171-D62B4232D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21B327-FBDD-0775-13AC-3C64F7594C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404BE9-8B4B-C201-33AD-28FD106455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78DDE2-09C4-447A-9C86-3C371A8CCAF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B8E1EA-49DD-6377-A724-30DB933AE8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EA1510-354B-94E6-9371-2CD67A859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4AA65-9525-4600-AEE2-12F818BB83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20340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F5667-7187-09A8-6A7D-C55390651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801E5A-8928-F5BC-0F2A-C385DD6C8B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6293F6-8A38-FC76-0A2D-12CCCCC42F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27C221-0CA9-745A-C154-C36B6170D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78DDE2-09C4-447A-9C86-3C371A8CCAF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54871D-A255-0BAF-2CBC-C44451829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5D3C98-A045-8BC9-D87B-08A010124A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4AA65-9525-4600-AEE2-12F818BB83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3838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6A907-3BE1-BB38-BD25-B8DBD959C3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7C3FC9-8BD1-8F2F-43A6-38431F57B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2311F6-D329-2977-D1EF-4154856E16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B7ECC4-7A1A-4C5C-A1CF-FE21AB23E3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842F45-C37B-32CC-7673-E2E4C37D65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11FE61-B214-8AAD-E408-113F48B9F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78DDE2-09C4-447A-9C86-3C371A8CCAF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76880F6-983F-15C6-6890-B9EB02B931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9F15447-1055-4543-175C-2033F45A9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4AA65-9525-4600-AEE2-12F818BB83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3675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D7C04-A95C-AA54-58E1-39E833B86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5C9989-754A-6359-2514-30AB0C1147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78DDE2-09C4-447A-9C86-3C371A8CCAF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64C25B-682A-64D1-8C23-10E4114F8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66A576-6D51-F09C-35D5-E1DD3D412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4AA65-9525-4600-AEE2-12F818BB83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7564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8558C9-BFD1-C51B-6257-5DEEF9577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78DDE2-09C4-447A-9C86-3C371A8CCAF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941171-0820-4CD1-9050-CF002F57B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481659-3D32-BBF9-D84D-F069AAE84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4AA65-9525-4600-AEE2-12F818BB83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6758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ECF0A-3AC0-0059-3106-23BFA6734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8B4446-3457-510B-A6AE-AB325102C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6895FD-A370-C0C2-FE87-4F3E23BB7E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E0A73E-B19B-0B77-FD1B-16A7E81C6E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78DDE2-09C4-447A-9C86-3C371A8CCAF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228F04-B289-AB81-B9C4-C9CA5A135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1AE522-49F2-0D21-A84F-387D04053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4AA65-9525-4600-AEE2-12F818BB83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1462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1F425-7E71-BEE4-A431-C50003EAD5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4C8FD65-7D1F-D772-9B9F-BF0A615F53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C619C6-9FAC-3F6A-EC1E-58CA2A4AC2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7F7731-62CF-4E87-3817-F6962D721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78DDE2-09C4-447A-9C86-3C371A8CCAF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AA7D0D-7999-AA86-B290-C1D0E5AA1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90B393-6A01-8C77-3FA6-F521D56FE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4AA65-9525-4600-AEE2-12F818BB83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1554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7FCC6-A166-3CF1-CC86-3682110FF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EF4FBF-7E7B-3848-BFC6-6861FDE538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870C6C-810A-1369-4912-FFB48388B1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78DDE2-09C4-447A-9C86-3C371A8CCAF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DE61C4-4BDB-2F2A-AC93-761527A75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AF6F07-BA66-D494-A3D4-ECBE7A93B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4AA65-9525-4600-AEE2-12F818BB83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734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209EE09-7ACD-3BB2-45F8-B38E5A72D97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627036-65C7-4181-ADCA-84C1B592D2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D649D6-1183-AD45-4E2D-18AA3DA23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78DDE2-09C4-447A-9C86-3C371A8CCAF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92DB2A-F7CA-9E0F-DED7-242D56907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0A9D8F-AFBD-EA81-FD7D-78E5C2538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4AA65-9525-4600-AEE2-12F818BB83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3259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520A2F7-7527-1EE8-FAFD-7CB30552BA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9848CB-5E61-E57E-0913-26103D0D34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61C4B-E198-B847-3680-1C5CB7BBDB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78DDE2-09C4-447A-9C86-3C371A8CCAF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C1445F-D979-4957-7A86-F8D95D461D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362202-BA6C-E387-4E15-BDB4C352A7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E4AA65-9525-4600-AEE2-12F818BB83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348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833E1-ACF6-E395-14CD-0A626BF6CF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244" y="618067"/>
            <a:ext cx="10826044" cy="982133"/>
          </a:xfrm>
        </p:spPr>
        <p:txBody>
          <a:bodyPr>
            <a:normAutofit/>
          </a:bodyPr>
          <a:lstStyle/>
          <a:p>
            <a:r>
              <a:rPr lang="en-US" dirty="0"/>
              <a:t>Capstone Project Review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9C88E0-1295-D9C4-E6E8-8F6C065645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10266" y="3568170"/>
            <a:ext cx="9144000" cy="2493963"/>
          </a:xfrm>
        </p:spPr>
        <p:txBody>
          <a:bodyPr>
            <a:normAutofit fontScale="92500" lnSpcReduction="20000"/>
          </a:bodyPr>
          <a:lstStyle/>
          <a:p>
            <a:r>
              <a:rPr lang="en-US" sz="3200" dirty="0"/>
              <a:t>By:- Joel Binu Philip</a:t>
            </a:r>
          </a:p>
          <a:p>
            <a:r>
              <a:rPr lang="en-US" sz="3200" dirty="0"/>
              <a:t>Project Name : Service Management System</a:t>
            </a:r>
            <a:br>
              <a:rPr lang="en-US" sz="3200" dirty="0"/>
            </a:br>
            <a:endParaRPr lang="en-US" sz="3200" dirty="0"/>
          </a:p>
          <a:p>
            <a:r>
              <a:rPr lang="en-US" sz="3200" dirty="0"/>
              <a:t>A Comprehensive Microservices Platform for End-to-End Home Service Lifecycle Management.</a:t>
            </a:r>
            <a:br>
              <a:rPr lang="en-US" sz="3200" dirty="0"/>
            </a:br>
            <a:endParaRPr lang="en-US" sz="3200" dirty="0"/>
          </a:p>
        </p:txBody>
      </p:sp>
      <p:pic>
        <p:nvPicPr>
          <p:cNvPr id="4" name="Picture 3" descr="Chubb Corporate Newsroom - Chubb Logos">
            <a:extLst>
              <a:ext uri="{FF2B5EF4-FFF2-40B4-BE49-F238E27FC236}">
                <a16:creationId xmlns:a16="http://schemas.microsoft.com/office/drawing/2014/main" id="{9640380E-C2C5-62CD-F243-56E53A4D97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0623" y="2315484"/>
            <a:ext cx="3530754" cy="353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45662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0CA66A3-BAB7-82B4-3754-24ADA891E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9178" y="1151467"/>
            <a:ext cx="10515600" cy="5441244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In today’s on-demand home service industry, service providers face significant challenges due to </a:t>
            </a:r>
            <a:r>
              <a:rPr lang="en-US" b="1" dirty="0"/>
              <a:t>fragmented workflows, manual coordination, and lack of real-time visibility</a:t>
            </a:r>
            <a:r>
              <a:rPr lang="en-US" dirty="0"/>
              <a:t> across the service lifecycle. Traditional service management approaches rely heavily on </a:t>
            </a:r>
            <a:r>
              <a:rPr lang="en-US" b="1" dirty="0"/>
              <a:t>disconnected communication channels, and isolated data storage</a:t>
            </a:r>
            <a:r>
              <a:rPr lang="en-US" dirty="0"/>
              <a:t>, resulting in delayed service delivery, poor customer experience, and limited operational insights. </a:t>
            </a:r>
          </a:p>
          <a:p>
            <a:r>
              <a:rPr lang="en-US" dirty="0"/>
              <a:t>Target Users:</a:t>
            </a:r>
          </a:p>
          <a:p>
            <a:pPr lvl="1"/>
            <a:r>
              <a:rPr lang="en-US" dirty="0"/>
              <a:t>Customers: For booking and tracking home services. </a:t>
            </a:r>
          </a:p>
          <a:p>
            <a:pPr lvl="1"/>
            <a:r>
              <a:rPr lang="en-US" dirty="0"/>
              <a:t>Technicians: For managing assigned tasks and workload. </a:t>
            </a:r>
          </a:p>
          <a:p>
            <a:pPr lvl="1"/>
            <a:r>
              <a:rPr lang="en-US" dirty="0"/>
              <a:t>Service Managers: For technician approval and task assignment. </a:t>
            </a:r>
          </a:p>
          <a:p>
            <a:pPr lvl="1"/>
            <a:r>
              <a:rPr lang="en-US" dirty="0"/>
              <a:t>Admins: For system-wide configuration and reporting. 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Market Need: A scalable, secure, and automated solution to bridge the gap between service providers and end-users.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5529D7E-1AE0-1776-7B95-C9B3A34F3282}"/>
              </a:ext>
            </a:extLst>
          </p:cNvPr>
          <p:cNvSpPr txBox="1"/>
          <p:nvPr/>
        </p:nvSpPr>
        <p:spPr>
          <a:xfrm>
            <a:off x="759178" y="442836"/>
            <a:ext cx="85641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11229889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13254-558A-E17D-9EB3-96C1FB66C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6770"/>
            <a:ext cx="10515600" cy="763764"/>
          </a:xfrm>
        </p:spPr>
        <p:txBody>
          <a:bodyPr/>
          <a:lstStyle/>
          <a:p>
            <a:r>
              <a:rPr lang="en-US" dirty="0"/>
              <a:t>High Level Architecture Diagram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B3801FB-5A44-DEE3-2A5F-C3031731DB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9778" y="1128889"/>
            <a:ext cx="11232444" cy="5275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4184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92BA52-4D75-DFB0-46E8-C2C7B475F5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32178"/>
            <a:ext cx="10515600" cy="554478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High-Level Architecture:</a:t>
            </a:r>
          </a:p>
          <a:p>
            <a:pPr marL="0" indent="0">
              <a:buNone/>
            </a:pPr>
            <a:r>
              <a:rPr lang="en-US" dirty="0"/>
              <a:t>Frontend: Built with Angular :-</a:t>
            </a:r>
          </a:p>
          <a:p>
            <a:pPr lvl="1"/>
            <a:r>
              <a:rPr lang="en-US" dirty="0"/>
              <a:t>API Gateway: Spring Cloud Gateway serving as the single entry point (Port 8080).</a:t>
            </a:r>
          </a:p>
          <a:p>
            <a:pPr lvl="1"/>
            <a:r>
              <a:rPr lang="en-US" dirty="0"/>
              <a:t>Service Registry: Netflix Eureka for service discovery (Port 8761). </a:t>
            </a:r>
          </a:p>
          <a:p>
            <a:pPr marL="457200" lvl="1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Microservices :-</a:t>
            </a:r>
          </a:p>
          <a:p>
            <a:pPr lvl="1"/>
            <a:r>
              <a:rPr lang="en-US" dirty="0"/>
              <a:t>Auth Service: Identity management and RBAC.</a:t>
            </a:r>
          </a:p>
          <a:p>
            <a:pPr lvl="1"/>
            <a:r>
              <a:rPr lang="en-US" dirty="0"/>
              <a:t>Booking Service: Core service lifecycle and dashboarding.</a:t>
            </a:r>
          </a:p>
          <a:p>
            <a:pPr lvl="1"/>
            <a:r>
              <a:rPr lang="en-US" dirty="0"/>
              <a:t>Service Catalog: Management of service categories and items. </a:t>
            </a:r>
          </a:p>
          <a:p>
            <a:pPr lvl="1"/>
            <a:r>
              <a:rPr lang="en-US" dirty="0"/>
              <a:t>Billing Service: Invoice generation and revenue tracking. </a:t>
            </a:r>
          </a:p>
          <a:p>
            <a:pPr lvl="1"/>
            <a:r>
              <a:rPr lang="en-US" dirty="0"/>
              <a:t>Notification Service: Real-time alerts via RabbitMQ. 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Databases: Distributed MongoDB instances for each service. </a:t>
            </a:r>
          </a:p>
          <a:p>
            <a:r>
              <a:rPr lang="en-US" dirty="0"/>
              <a:t>Messaging: RabbitMQ for asynchronous event-driven communication.</a:t>
            </a:r>
          </a:p>
        </p:txBody>
      </p:sp>
    </p:spTree>
    <p:extLst>
      <p:ext uri="{BB962C8B-B14F-4D97-AF65-F5344CB8AC3E}">
        <p14:creationId xmlns:p14="http://schemas.microsoft.com/office/powerpoint/2010/main" val="28484266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C6D9DA-8BDF-F969-DFED-AEF8C0955F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9979"/>
            <a:ext cx="10515600" cy="543313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 Key Features</a:t>
            </a:r>
          </a:p>
          <a:p>
            <a:r>
              <a:rPr lang="en-US" dirty="0"/>
              <a:t>Customer: Service request creation, real-time status tracking (Pending to Completed), and rating/feedback system. 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Technician: Professional profile application, workload status management (Toggle Availability), and OTP-based service completion.</a:t>
            </a:r>
          </a:p>
          <a:p>
            <a:pPr marL="0" indent="0">
              <a:buNone/>
            </a:pPr>
            <a:r>
              <a:rPr lang="en-US" dirty="0"/>
              <a:t> </a:t>
            </a:r>
          </a:p>
          <a:p>
            <a:r>
              <a:rPr lang="en-US" dirty="0"/>
              <a:t>Manager: Multi-stage technician approval workflow, smart technician assignment, and reassignment capabilities. </a:t>
            </a:r>
          </a:p>
          <a:p>
            <a:endParaRPr lang="en-US" dirty="0"/>
          </a:p>
          <a:p>
            <a:r>
              <a:rPr lang="en-US" dirty="0"/>
              <a:t>Admin: Dynamic catalog management (categories/services),and comprehensive revenue/performance reporting. </a:t>
            </a:r>
          </a:p>
        </p:txBody>
      </p:sp>
    </p:spTree>
    <p:extLst>
      <p:ext uri="{BB962C8B-B14F-4D97-AF65-F5344CB8AC3E}">
        <p14:creationId xmlns:p14="http://schemas.microsoft.com/office/powerpoint/2010/main" val="12006100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B5EC4B7-C026-27FA-AC8E-D712B327B16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41886" y="708521"/>
            <a:ext cx="10934006" cy="5968857"/>
          </a:xfrm>
          <a:prstGeom prst="rect">
            <a:avLst/>
          </a:prstGeom>
        </p:spPr>
      </p:pic>
      <p:sp>
        <p:nvSpPr>
          <p:cNvPr id="4" name="AutoShape 2" descr="Image of ">
            <a:extLst>
              <a:ext uri="{FF2B5EF4-FFF2-40B4-BE49-F238E27FC236}">
                <a16:creationId xmlns:a16="http://schemas.microsoft.com/office/drawing/2014/main" id="{9CB799FC-34A1-9205-197F-EC3728F637BE}"/>
              </a:ext>
            </a:extLst>
          </p:cNvPr>
          <p:cNvSpPr>
            <a:spLocks noGrp="1" noChangeAspect="1" noChangeArrowheads="1"/>
          </p:cNvSpPr>
          <p:nvPr>
            <p:ph type="title"/>
          </p:nvPr>
        </p:nvSpPr>
        <p:spPr bwMode="auto">
          <a:xfrm>
            <a:off x="327405" y="90311"/>
            <a:ext cx="11026395" cy="7988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r>
              <a:rPr lang="en-US" b="1" dirty="0"/>
              <a:t>Role-Based Authentication &amp; Service Access Flow</a:t>
            </a:r>
          </a:p>
        </p:txBody>
      </p:sp>
    </p:spTree>
    <p:extLst>
      <p:ext uri="{BB962C8B-B14F-4D97-AF65-F5344CB8AC3E}">
        <p14:creationId xmlns:p14="http://schemas.microsoft.com/office/powerpoint/2010/main" val="5375874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5AABE5-E51E-51D9-868D-D949E76EE0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4697"/>
          </a:xfrm>
        </p:spPr>
        <p:txBody>
          <a:bodyPr/>
          <a:lstStyle/>
          <a:p>
            <a:r>
              <a:rPr lang="en-US" dirty="0"/>
              <a:t>Technology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B72EB5-0EF1-1186-36DB-0489F8BE5E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067"/>
            <a:ext cx="10515600" cy="4923896"/>
          </a:xfrm>
        </p:spPr>
        <p:txBody>
          <a:bodyPr>
            <a:normAutofit/>
          </a:bodyPr>
          <a:lstStyle/>
          <a:p>
            <a:r>
              <a:rPr lang="en-US" dirty="0"/>
              <a:t>Frontend: Angular (with </a:t>
            </a:r>
            <a:r>
              <a:rPr lang="en-US" dirty="0" err="1"/>
              <a:t>RxJS</a:t>
            </a:r>
            <a:r>
              <a:rPr lang="en-US" dirty="0"/>
              <a:t> and Bootstrap). </a:t>
            </a:r>
          </a:p>
          <a:p>
            <a:r>
              <a:rPr lang="en-US" dirty="0"/>
              <a:t>Backend: Java 17, Spring Boot, Spring Cloud (2023.0.0). </a:t>
            </a:r>
          </a:p>
          <a:p>
            <a:r>
              <a:rPr lang="en-US" dirty="0"/>
              <a:t>Microservices: Spring Cloud Gateway, Eureka Server, </a:t>
            </a:r>
            <a:r>
              <a:rPr lang="en-US" dirty="0" err="1"/>
              <a:t>OpenFeign</a:t>
            </a:r>
            <a:r>
              <a:rPr lang="en-US" dirty="0"/>
              <a:t>, and Resilience4j. </a:t>
            </a:r>
          </a:p>
          <a:p>
            <a:r>
              <a:rPr lang="en-US" dirty="0"/>
              <a:t>Database: MongoDB.</a:t>
            </a:r>
          </a:p>
          <a:p>
            <a:r>
              <a:rPr lang="en-US" dirty="0"/>
              <a:t>Messaging: RabbitMQ. </a:t>
            </a:r>
          </a:p>
          <a:p>
            <a:r>
              <a:rPr lang="en-US" dirty="0"/>
              <a:t>Security: JWT (JSON Web Tokens), Spring Security, and </a:t>
            </a:r>
            <a:r>
              <a:rPr lang="en-US" dirty="0" err="1"/>
              <a:t>BCrypt</a:t>
            </a:r>
            <a:r>
              <a:rPr lang="en-US" dirty="0"/>
              <a:t> password encoding. </a:t>
            </a:r>
          </a:p>
          <a:p>
            <a:r>
              <a:rPr lang="en-US" dirty="0"/>
              <a:t>Testing: JUnit 5, Mockito, and </a:t>
            </a:r>
            <a:r>
              <a:rPr lang="en-US" dirty="0" err="1"/>
              <a:t>MockMvc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52353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480F2-88FC-4AB1-184D-A5974D7E0D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98311"/>
            <a:ext cx="10515600" cy="5578652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3300" dirty="0"/>
              <a:t>Technical Highlights</a:t>
            </a:r>
          </a:p>
          <a:p>
            <a:endParaRPr lang="en-US" dirty="0"/>
          </a:p>
          <a:p>
            <a:r>
              <a:rPr lang="en-US" dirty="0"/>
              <a:t>Event-Driven Communication: Asynchronous notification delivery using RabbitMQ to decouple services. </a:t>
            </a:r>
          </a:p>
          <a:p>
            <a:endParaRPr lang="en-US" dirty="0"/>
          </a:p>
          <a:p>
            <a:r>
              <a:rPr lang="en-US" dirty="0"/>
              <a:t>Security &amp; Compliance: Rate limiting on login, automated account locking after failed attempts, and full audit logs for sensitive actions. </a:t>
            </a:r>
          </a:p>
          <a:p>
            <a:endParaRPr lang="en-US" dirty="0"/>
          </a:p>
          <a:p>
            <a:r>
              <a:rPr lang="en-US" dirty="0"/>
              <a:t>Robust Error Handling: Global exception handling with consistent API response wrappers across all microservices. </a:t>
            </a:r>
          </a:p>
          <a:p>
            <a:endParaRPr lang="en-US" dirty="0"/>
          </a:p>
          <a:p>
            <a:r>
              <a:rPr lang="en-US" dirty="0"/>
              <a:t>Data Integrity: Transactional service layers and scheduled cleanup of expired tokens and logs. </a:t>
            </a:r>
          </a:p>
          <a:p>
            <a:endParaRPr lang="en-US" dirty="0"/>
          </a:p>
          <a:p>
            <a:r>
              <a:rPr lang="en-US" dirty="0"/>
              <a:t>Inter-service Reliability: </a:t>
            </a:r>
            <a:r>
              <a:rPr lang="en-US" dirty="0" err="1"/>
              <a:t>OpenFeign</a:t>
            </a:r>
            <a:r>
              <a:rPr lang="en-US" dirty="0"/>
              <a:t> clients with circuit breakers (Resilience4j) and fallback mechanisms</a:t>
            </a:r>
          </a:p>
        </p:txBody>
      </p:sp>
    </p:spTree>
    <p:extLst>
      <p:ext uri="{BB962C8B-B14F-4D97-AF65-F5344CB8AC3E}">
        <p14:creationId xmlns:p14="http://schemas.microsoft.com/office/powerpoint/2010/main" val="40688449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5A4A964-9B2A-1C3E-0068-8BEE7810A2A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03694289"/>
              </p:ext>
            </p:extLst>
          </p:nvPr>
        </p:nvGraphicFramePr>
        <p:xfrm>
          <a:off x="1501422" y="0"/>
          <a:ext cx="8726311" cy="6858001"/>
        </p:xfrm>
        <a:graphic>
          <a:graphicData uri="http://schemas.openxmlformats.org/drawingml/2006/table">
            <a:tbl>
              <a:tblPr/>
              <a:tblGrid>
                <a:gridCol w="3359812">
                  <a:extLst>
                    <a:ext uri="{9D8B030D-6E8A-4147-A177-3AD203B41FA5}">
                      <a16:colId xmlns:a16="http://schemas.microsoft.com/office/drawing/2014/main" val="256367331"/>
                    </a:ext>
                  </a:extLst>
                </a:gridCol>
                <a:gridCol w="5366499">
                  <a:extLst>
                    <a:ext uri="{9D8B030D-6E8A-4147-A177-3AD203B41FA5}">
                      <a16:colId xmlns:a16="http://schemas.microsoft.com/office/drawing/2014/main" val="3707909846"/>
                    </a:ext>
                  </a:extLst>
                </a:gridCol>
              </a:tblGrid>
              <a:tr h="50089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5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Feature</a:t>
                      </a:r>
                      <a:endParaRPr lang="en-US" sz="15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3751" marR="73751" marT="49168" marB="49168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5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Business Rule (The "Why")</a:t>
                      </a:r>
                      <a:endParaRPr lang="en-US" sz="1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3751" marR="73751" marT="49168" marB="49168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3157196"/>
                  </a:ext>
                </a:extLst>
              </a:tr>
              <a:tr h="1201373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5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Technician Approval</a:t>
                      </a:r>
                      <a:endParaRPr lang="en-US" sz="1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3751" marR="73751" marT="49168" marB="49168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5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Quality Control.</a:t>
                      </a:r>
                      <a:r>
                        <a:rPr lang="en-US" sz="15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Random people cannot just sign up and enter customers' homes.</a:t>
                      </a:r>
                    </a:p>
                  </a:txBody>
                  <a:tcPr marL="73751" marR="73751" marT="49168" marB="49168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8015386"/>
                  </a:ext>
                </a:extLst>
              </a:tr>
              <a:tr h="155161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5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OTP Completion</a:t>
                      </a:r>
                      <a:endParaRPr lang="en-US" sz="1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3751" marR="73751" marT="49168" marB="49168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5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Fraud Prevention.</a:t>
                      </a:r>
                      <a:r>
                        <a:rPr lang="en-US" sz="15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Prevents technicians from marking a job "Done" without actually visiting the house.</a:t>
                      </a:r>
                    </a:p>
                  </a:txBody>
                  <a:tcPr marL="73751" marR="73751" marT="49168" marB="49168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6779841"/>
                  </a:ext>
                </a:extLst>
              </a:tr>
              <a:tr h="1201373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5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Role Guarding</a:t>
                      </a:r>
                      <a:endParaRPr lang="en-US" sz="1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3751" marR="73751" marT="49168" marB="49168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5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Security.</a:t>
                      </a:r>
                      <a:r>
                        <a:rPr lang="en-US" sz="15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A Technician cannot see the Admin panel; a Customer cannot assign jobs.</a:t>
                      </a:r>
                    </a:p>
                  </a:txBody>
                  <a:tcPr marL="73751" marR="73751" marT="49168" marB="49168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590728"/>
                  </a:ext>
                </a:extLst>
              </a:tr>
              <a:tr h="1201373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5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Email Verification</a:t>
                      </a:r>
                      <a:endParaRPr lang="en-US" sz="1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3751" marR="73751" marT="49168" marB="49168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5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Identity Assurance.</a:t>
                      </a:r>
                      <a:r>
                        <a:rPr lang="en-US" sz="15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Ensures the user is reachable for invoices/notifications.</a:t>
                      </a:r>
                    </a:p>
                  </a:txBody>
                  <a:tcPr marL="73751" marR="73751" marT="49168" marB="49168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7979315"/>
                  </a:ext>
                </a:extLst>
              </a:tr>
              <a:tr h="1201373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5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State Machine</a:t>
                      </a:r>
                      <a:endParaRPr lang="en-US" sz="1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3751" marR="73751" marT="49168" marB="49168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5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Process Integrity.</a:t>
                      </a:r>
                      <a:r>
                        <a:rPr lang="en-US" sz="15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You can't "Complete" a job before you "Start" it.</a:t>
                      </a:r>
                    </a:p>
                  </a:txBody>
                  <a:tcPr marL="73751" marR="73751" marT="49168" marB="49168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04974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25359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98554790-F234-6470-FAC1-422564EA7E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127143" y="170610"/>
            <a:ext cx="11937714" cy="6516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626727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5304E-3DA5-170B-8385-8D04088673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1417" y="211676"/>
            <a:ext cx="10515600" cy="560564"/>
          </a:xfrm>
        </p:spPr>
        <p:txBody>
          <a:bodyPr>
            <a:normAutofit fontScale="90000"/>
          </a:bodyPr>
          <a:lstStyle/>
          <a:p>
            <a:r>
              <a:rPr lang="en-US" b="1" dirty="0">
                <a:latin typeface="+mn-lt"/>
              </a:rPr>
              <a:t>Customer Dashboard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A0B9792-3DE4-B303-AF92-8986AE7B40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51417" y="818300"/>
            <a:ext cx="10689166" cy="5828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7021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2404945-BF1F-2159-A62A-F28E01D6F8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4331" y="652846"/>
            <a:ext cx="11343337" cy="59059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865174B-595B-0DA9-E968-8E879D31908F}"/>
              </a:ext>
            </a:extLst>
          </p:cNvPr>
          <p:cNvSpPr txBox="1"/>
          <p:nvPr/>
        </p:nvSpPr>
        <p:spPr>
          <a:xfrm>
            <a:off x="424331" y="136233"/>
            <a:ext cx="97796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Technician Dashboard</a:t>
            </a:r>
          </a:p>
        </p:txBody>
      </p:sp>
    </p:spTree>
    <p:extLst>
      <p:ext uri="{BB962C8B-B14F-4D97-AF65-F5344CB8AC3E}">
        <p14:creationId xmlns:p14="http://schemas.microsoft.com/office/powerpoint/2010/main" val="5174530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156DCF-B034-AA72-6D12-520C1D7424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8297"/>
          </a:xfrm>
        </p:spPr>
        <p:txBody>
          <a:bodyPr>
            <a:normAutofit fontScale="90000"/>
          </a:bodyPr>
          <a:lstStyle/>
          <a:p>
            <a:r>
              <a:rPr lang="en-US" dirty="0"/>
              <a:t>Admin Dashboard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BAA2F74-6BC2-D172-15EA-BB10E77B4E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1555" y="1271679"/>
            <a:ext cx="11288889" cy="5586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0580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49E0A-AA56-D9A5-6E36-6A36F2BCEE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965" y="209725"/>
            <a:ext cx="10515600" cy="1325563"/>
          </a:xfrm>
        </p:spPr>
        <p:txBody>
          <a:bodyPr/>
          <a:lstStyle/>
          <a:p>
            <a:r>
              <a:rPr lang="en-US" dirty="0"/>
              <a:t>Service Manager Dashboard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97CA3BE-DC4E-1B9F-BB70-61A8E46ED1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3965" y="1535288"/>
            <a:ext cx="11567102" cy="4967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49500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18DAC9-F6DC-F647-A6BE-90D8E01126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9800" y="634029"/>
            <a:ext cx="10515600" cy="55899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Testing &amp; Quality</a:t>
            </a:r>
          </a:p>
          <a:p>
            <a:endParaRPr lang="en-US" dirty="0"/>
          </a:p>
          <a:p>
            <a:r>
              <a:rPr lang="en-US" dirty="0"/>
              <a:t>Unit &amp; Integration Testing: Extensive test coverage using </a:t>
            </a:r>
            <a:r>
              <a:rPr lang="en-US" dirty="0" err="1"/>
              <a:t>MockMvc</a:t>
            </a:r>
            <a:r>
              <a:rPr lang="en-US" dirty="0"/>
              <a:t> for controllers and Mockito for service-layer isolation. </a:t>
            </a:r>
          </a:p>
          <a:p>
            <a:endParaRPr lang="en-US" dirty="0"/>
          </a:p>
          <a:p>
            <a:r>
              <a:rPr lang="en-US" dirty="0"/>
              <a:t>Security Testing: Use of @WithMockUser to validate role-based access constraints (e.g., ensuring technicians cannot assign tasks). 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Validation: Strict input validation using JSR-303 annotations (@NotBlank, @Pattern, @Size)</a:t>
            </a:r>
          </a:p>
        </p:txBody>
      </p:sp>
    </p:spTree>
    <p:extLst>
      <p:ext uri="{BB962C8B-B14F-4D97-AF65-F5344CB8AC3E}">
        <p14:creationId xmlns:p14="http://schemas.microsoft.com/office/powerpoint/2010/main" val="28269210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88E7FB-0FF1-650C-30E0-E0A43E65F8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844" y="349956"/>
            <a:ext cx="10890956" cy="582700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b="1" dirty="0"/>
              <a:t>DevOps &amp; Infrastructure</a:t>
            </a:r>
            <a:endParaRPr lang="en-US" dirty="0"/>
          </a:p>
          <a:p>
            <a:pPr lvl="0">
              <a:lnSpc>
                <a:spcPct val="150000"/>
              </a:lnSpc>
            </a:pPr>
            <a:r>
              <a:rPr lang="en-US" b="1" dirty="0"/>
              <a:t>Docker</a:t>
            </a:r>
            <a:r>
              <a:rPr lang="en-US" dirty="0"/>
              <a:t>: Containerization platform.</a:t>
            </a:r>
          </a:p>
          <a:p>
            <a:pPr lvl="0">
              <a:lnSpc>
                <a:spcPct val="150000"/>
              </a:lnSpc>
            </a:pPr>
            <a:r>
              <a:rPr lang="en-US" b="1" dirty="0"/>
              <a:t>Docker Compose</a:t>
            </a:r>
            <a:r>
              <a:rPr lang="en-US" dirty="0"/>
              <a:t>: Tool for defining running multi-container applications locally.</a:t>
            </a:r>
          </a:p>
          <a:p>
            <a:r>
              <a:rPr lang="en-US" b="1" dirty="0"/>
              <a:t>Jenkins: </a:t>
            </a:r>
            <a:r>
              <a:rPr lang="en-US" dirty="0"/>
              <a:t>For Continuous Integration and Deployment (CI/CD) pipelines.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b="1" dirty="0"/>
              <a:t>SonarQube</a:t>
            </a:r>
            <a:r>
              <a:rPr lang="en-US" dirty="0"/>
              <a:t>: For continuous code quality inspection.</a:t>
            </a:r>
          </a:p>
        </p:txBody>
      </p:sp>
    </p:spTree>
    <p:extLst>
      <p:ext uri="{BB962C8B-B14F-4D97-AF65-F5344CB8AC3E}">
        <p14:creationId xmlns:p14="http://schemas.microsoft.com/office/powerpoint/2010/main" val="27947348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8A80A94-F1A8-54AC-1863-F71ABE7C87DF}"/>
              </a:ext>
            </a:extLst>
          </p:cNvPr>
          <p:cNvSpPr txBox="1"/>
          <p:nvPr/>
        </p:nvSpPr>
        <p:spPr>
          <a:xfrm>
            <a:off x="349955" y="139699"/>
            <a:ext cx="116864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err="1"/>
              <a:t>JaCoCo</a:t>
            </a:r>
            <a:r>
              <a:rPr lang="en-US" sz="2800" b="1" dirty="0"/>
              <a:t> Report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11255B2-F898-FE3F-6A9F-BEB655BB8B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429000"/>
            <a:ext cx="12192000" cy="159417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AA65F5B-D204-1BE2-EDD0-A8208AF267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97472"/>
            <a:ext cx="12192000" cy="176052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FD6691E-B001-E21C-03ED-14C1A4AEC8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106536"/>
            <a:ext cx="12192000" cy="165150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319EBF6-DF5A-025A-C273-5177D0D35A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662919"/>
            <a:ext cx="12192000" cy="1687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9536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CDEA223-7480-3892-90B7-B99DB7818C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71410"/>
            <a:ext cx="12192000" cy="608659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0E917C4-1829-9303-CFEF-923447FF6858}"/>
              </a:ext>
            </a:extLst>
          </p:cNvPr>
          <p:cNvSpPr txBox="1"/>
          <p:nvPr/>
        </p:nvSpPr>
        <p:spPr>
          <a:xfrm>
            <a:off x="167268" y="156117"/>
            <a:ext cx="98353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SonarQube Analysis</a:t>
            </a:r>
          </a:p>
        </p:txBody>
      </p:sp>
    </p:spTree>
    <p:extLst>
      <p:ext uri="{BB962C8B-B14F-4D97-AF65-F5344CB8AC3E}">
        <p14:creationId xmlns:p14="http://schemas.microsoft.com/office/powerpoint/2010/main" val="42308279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30979C-D822-D33B-B9D6-5D44962EC6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85422"/>
            <a:ext cx="10515600" cy="5691541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Future Enhancements</a:t>
            </a:r>
          </a:p>
          <a:p>
            <a:endParaRPr lang="en-US" dirty="0"/>
          </a:p>
          <a:p>
            <a:r>
              <a:rPr lang="en-US" dirty="0"/>
              <a:t>Scalability: Implementation of Kubernetes (K8s) for auto-scaling service instances based on load. </a:t>
            </a:r>
          </a:p>
          <a:p>
            <a:endParaRPr lang="en-US" dirty="0"/>
          </a:p>
          <a:p>
            <a:r>
              <a:rPr lang="en-US" dirty="0"/>
              <a:t>Features: Integration of a real-time chat service for Customers and Technicians.</a:t>
            </a:r>
          </a:p>
          <a:p>
            <a:endParaRPr lang="en-US" dirty="0"/>
          </a:p>
          <a:p>
            <a:r>
              <a:rPr lang="en-US" dirty="0"/>
              <a:t>Payment Gateway: Integration of external payment providers (e.g., Stripe/</a:t>
            </a:r>
            <a:r>
              <a:rPr lang="en-US" dirty="0" err="1"/>
              <a:t>Razorpay</a:t>
            </a:r>
            <a:r>
              <a:rPr lang="en-US" dirty="0"/>
              <a:t>) instead of just internal status updates. </a:t>
            </a:r>
          </a:p>
          <a:p>
            <a:endParaRPr lang="en-US" dirty="0"/>
          </a:p>
          <a:p>
            <a:r>
              <a:rPr lang="en-US" dirty="0"/>
              <a:t>Mobile App: Developing a Flutter or React Native mobile client for on-the-go service management.</a:t>
            </a:r>
          </a:p>
        </p:txBody>
      </p:sp>
    </p:spTree>
    <p:extLst>
      <p:ext uri="{BB962C8B-B14F-4D97-AF65-F5344CB8AC3E}">
        <p14:creationId xmlns:p14="http://schemas.microsoft.com/office/powerpoint/2010/main" val="42599938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912</TotalTime>
  <Words>772</Words>
  <Application>Microsoft Office PowerPoint</Application>
  <PresentationFormat>Widescreen</PresentationFormat>
  <Paragraphs>96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Calibri</vt:lpstr>
      <vt:lpstr>Calibri Light</vt:lpstr>
      <vt:lpstr>Google Sans Text</vt:lpstr>
      <vt:lpstr>Office Theme</vt:lpstr>
      <vt:lpstr>Capstone Project Review</vt:lpstr>
      <vt:lpstr>PowerPoint Presentation</vt:lpstr>
      <vt:lpstr>High Level Architecture Diagram</vt:lpstr>
      <vt:lpstr>PowerPoint Presentation</vt:lpstr>
      <vt:lpstr>PowerPoint Presentation</vt:lpstr>
      <vt:lpstr>Role-Based Authentication &amp; Service Access Flow</vt:lpstr>
      <vt:lpstr>Technology Stack</vt:lpstr>
      <vt:lpstr>PowerPoint Presentation</vt:lpstr>
      <vt:lpstr>PowerPoint Presentation</vt:lpstr>
      <vt:lpstr>PowerPoint Presentation</vt:lpstr>
      <vt:lpstr>Customer Dashboard</vt:lpstr>
      <vt:lpstr>PowerPoint Presentation</vt:lpstr>
      <vt:lpstr>Admin Dashboard</vt:lpstr>
      <vt:lpstr>Service Manager Dashboard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Joel Binu Philip</dc:creator>
  <cp:lastModifiedBy>Joel Binu Philip</cp:lastModifiedBy>
  <cp:revision>5</cp:revision>
  <dcterms:created xsi:type="dcterms:W3CDTF">2026-01-07T00:58:32Z</dcterms:created>
  <dcterms:modified xsi:type="dcterms:W3CDTF">2026-01-08T12:02:33Z</dcterms:modified>
</cp:coreProperties>
</file>